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292" r:id="rId3"/>
    <p:sldId id="299" r:id="rId4"/>
    <p:sldId id="300" r:id="rId5"/>
    <p:sldId id="302" r:id="rId6"/>
    <p:sldId id="301" r:id="rId7"/>
    <p:sldId id="29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777"/>
    <a:srgbClr val="4D4D4D"/>
    <a:srgbClr val="DDDDDD"/>
    <a:srgbClr val="CC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F52D243-31C9-CC45-9AFA-0C20BBC46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74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FBAF9A87-6E55-904D-B6A9-A723928B4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15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9"/>
          <p:cNvSpPr>
            <a:spLocks noChangeArrowheads="1"/>
          </p:cNvSpPr>
          <p:nvPr userDrawn="1"/>
        </p:nvSpPr>
        <p:spPr bwMode="auto">
          <a:xfrm>
            <a:off x="0" y="0"/>
            <a:ext cx="4953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650"/>
          <p:cNvSpPr>
            <a:spLocks noChangeArrowheads="1"/>
          </p:cNvSpPr>
          <p:nvPr userDrawn="1"/>
        </p:nvSpPr>
        <p:spPr bwMode="auto">
          <a:xfrm>
            <a:off x="4343400" y="0"/>
            <a:ext cx="3048000" cy="152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651"/>
          <p:cNvSpPr>
            <a:spLocks noChangeArrowheads="1"/>
          </p:cNvSpPr>
          <p:nvPr userDrawn="1"/>
        </p:nvSpPr>
        <p:spPr bwMode="auto">
          <a:xfrm>
            <a:off x="7391400" y="0"/>
            <a:ext cx="1752600" cy="152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Text Box 652"/>
          <p:cNvSpPr txBox="1">
            <a:spLocks noChangeArrowheads="1"/>
          </p:cNvSpPr>
          <p:nvPr userDrawn="1"/>
        </p:nvSpPr>
        <p:spPr bwMode="auto">
          <a:xfrm>
            <a:off x="6400800" y="120650"/>
            <a:ext cx="27416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CC0000"/>
                </a:solidFill>
                <a:latin typeface="Georgia" charset="0"/>
                <a:cs typeface="+mn-cs"/>
              </a:rPr>
              <a:t>STRICTLY CONFIDENTIAL</a:t>
            </a:r>
          </a:p>
        </p:txBody>
      </p:sp>
      <p:pic>
        <p:nvPicPr>
          <p:cNvPr id="8" name="Picture 659" descr="logotemp"/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19600"/>
            <a:ext cx="2438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981200"/>
            <a:ext cx="7772400" cy="857250"/>
          </a:xfrm>
        </p:spPr>
        <p:txBody>
          <a:bodyPr/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819400"/>
            <a:ext cx="7772400" cy="457200"/>
          </a:xfrm>
        </p:spPr>
        <p:txBody>
          <a:bodyPr/>
          <a:lstStyle>
            <a:lvl1pPr marL="0" indent="0" algn="ctr">
              <a:buFont typeface="Wingdings" charset="0"/>
              <a:buNone/>
              <a:defRPr b="0">
                <a:solidFill>
                  <a:srgbClr val="4D4D4D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65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C0AA5-A1EB-1349-9E43-DDAD4C4C1F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656"/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2971800" y="1066800"/>
            <a:ext cx="2819400" cy="47625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2400">
                <a:solidFill>
                  <a:srgbClr val="4D4D4D"/>
                </a:solidFill>
                <a:cs typeface="ＭＳ Ｐゴシック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1" name="Rectangle 65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3114873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F11C9-9A3F-7145-B632-1B5096D5B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31056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53215-983E-C947-AAB6-564CF28FA9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46456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291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066800"/>
            <a:ext cx="42291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7DD03-CD40-0A4A-A464-5AABCC26A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56698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5D2AD-4559-5D46-A310-1B8117A17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59667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5E8F6-73D3-7741-983D-A093AA3E3C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42983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1470D-A0F4-9E4D-A81B-02261E670D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0088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4F0BD-D23F-BF41-96F0-13BFE8FF74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9894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0FE92-0A37-AD46-8760-5ADD8BF6E1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89189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EB51F-DCC2-474C-8E03-7A2BFC9CC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993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304800"/>
            <a:ext cx="21621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334125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7ABCD-64D2-A94E-ACA9-03F17E26C2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53822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0" y="6600825"/>
            <a:ext cx="5638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613525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cs typeface="+mn-cs"/>
              </a:defRPr>
            </a:lvl1pPr>
          </a:lstStyle>
          <a:p>
            <a:pPr>
              <a:defRPr/>
            </a:pPr>
            <a:fld id="{F7A4A3DB-EA51-4F4D-A8CD-561A88878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66800"/>
            <a:ext cx="8610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228600" y="304800"/>
            <a:ext cx="86487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59" name="Rectangle 235"/>
          <p:cNvSpPr>
            <a:spLocks noChangeArrowheads="1"/>
          </p:cNvSpPr>
          <p:nvPr userDrawn="1"/>
        </p:nvSpPr>
        <p:spPr bwMode="auto">
          <a:xfrm>
            <a:off x="0" y="0"/>
            <a:ext cx="4953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60" name="Rectangle 236"/>
          <p:cNvSpPr>
            <a:spLocks noChangeArrowheads="1"/>
          </p:cNvSpPr>
          <p:nvPr userDrawn="1"/>
        </p:nvSpPr>
        <p:spPr bwMode="auto">
          <a:xfrm>
            <a:off x="4343400" y="0"/>
            <a:ext cx="3048000" cy="152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61" name="Rectangle 237"/>
          <p:cNvSpPr>
            <a:spLocks noChangeArrowheads="1"/>
          </p:cNvSpPr>
          <p:nvPr userDrawn="1"/>
        </p:nvSpPr>
        <p:spPr bwMode="auto">
          <a:xfrm>
            <a:off x="7391400" y="0"/>
            <a:ext cx="1752600" cy="152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62" name="Line 238"/>
          <p:cNvSpPr>
            <a:spLocks noChangeShapeType="1"/>
          </p:cNvSpPr>
          <p:nvPr userDrawn="1"/>
        </p:nvSpPr>
        <p:spPr bwMode="auto">
          <a:xfrm>
            <a:off x="1752600" y="6629400"/>
            <a:ext cx="7239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64" name="Text Box 240"/>
          <p:cNvSpPr txBox="1">
            <a:spLocks noChangeArrowheads="1"/>
          </p:cNvSpPr>
          <p:nvPr userDrawn="1"/>
        </p:nvSpPr>
        <p:spPr bwMode="auto">
          <a:xfrm>
            <a:off x="6400800" y="120650"/>
            <a:ext cx="27416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CC0000"/>
                </a:solidFill>
                <a:latin typeface="Georgia" charset="0"/>
                <a:cs typeface="+mn-cs"/>
              </a:rPr>
              <a:t>STRICTLY CONFIDENTIAL</a:t>
            </a:r>
          </a:p>
        </p:txBody>
      </p:sp>
      <p:pic>
        <p:nvPicPr>
          <p:cNvPr id="1035" name="Picture 242" descr="logotemp"/>
          <p:cNvPicPr preferRelativeResize="0"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29363"/>
            <a:ext cx="14351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>
    <p:random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0"/>
        <a:buChar char="v"/>
        <a:defRPr sz="2800" b="1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ws.amazon.com/s3/" TargetMode="External"/><Relationship Id="rId2" Type="http://schemas.openxmlformats.org/officeDocument/2006/relationships/hyperlink" Target="http://aws.amazon.com/ec2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ws.amazon.com/" TargetMode="External"/><Relationship Id="rId2" Type="http://schemas.openxmlformats.org/officeDocument/2006/relationships/hyperlink" Target="http://aws.amazon.com/s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5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FD26EA-D72A-9840-9E36-1D35CE712B5D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Rectangle 656"/>
          <p:cNvSpPr>
            <a:spLocks noGrp="1" noChangeArrowheads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fld id="{1EE3DAD3-8D06-CB47-95AD-866D80BE7936}" type="datetime3">
              <a:rPr lang="en-US" smtClean="0"/>
              <a:pPr>
                <a:defRPr/>
              </a:pPr>
              <a:t>5 August 2015</a:t>
            </a:fld>
            <a:endParaRPr lang="ja-JP" altLang="en-US" dirty="0"/>
          </a:p>
        </p:txBody>
      </p:sp>
      <p:sp>
        <p:nvSpPr>
          <p:cNvPr id="6" name="Rectangle 65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©2013. AOI Systems Vietnam Co., Ltd. All rights reserved.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190750"/>
            <a:ext cx="77724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ja-JP" dirty="0" smtClean="0"/>
              <a:t>Very Summary Amazon Web Services (AWS)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What is AWS ? what is it used for </a:t>
            </a:r>
            <a:r>
              <a:rPr lang="en-US" dirty="0" smtClean="0"/>
              <a:t>?</a:t>
            </a:r>
          </a:p>
          <a:p>
            <a:pPr>
              <a:defRPr/>
            </a:pPr>
            <a:r>
              <a:rPr lang="en-US" dirty="0" smtClean="0"/>
              <a:t>Overview Security</a:t>
            </a:r>
            <a:endParaRPr lang="en-US" dirty="0"/>
          </a:p>
          <a:p>
            <a:pPr>
              <a:defRPr/>
            </a:pPr>
            <a:r>
              <a:rPr lang="en-US" dirty="0" smtClean="0"/>
              <a:t>Some common services that we are using.</a:t>
            </a:r>
            <a:endParaRPr lang="en-US" sz="3200" dirty="0" smtClean="0">
              <a:solidFill>
                <a:srgbClr val="FF0000"/>
              </a:solidFill>
            </a:endParaRP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628E0F-8443-C047-A352-C855E2BC0827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Amazon cloud computing</a:t>
            </a:r>
          </a:p>
          <a:p>
            <a:pPr lvl="1"/>
            <a:r>
              <a:rPr lang="en-US" dirty="0" smtClean="0"/>
              <a:t>Long </a:t>
            </a:r>
            <a:r>
              <a:rPr lang="en-US" dirty="0"/>
              <a:t>history of using a decentralized IT infrastructure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Has </a:t>
            </a:r>
            <a:r>
              <a:rPr lang="en-US" dirty="0" smtClean="0"/>
              <a:t>experience over 10 years </a:t>
            </a:r>
            <a:r>
              <a:rPr lang="en-US" dirty="0"/>
              <a:t>in managing the large-scale, reliable, and efficient IT </a:t>
            </a:r>
            <a:endParaRPr lang="en-US" dirty="0" smtClean="0"/>
          </a:p>
          <a:p>
            <a:r>
              <a:rPr lang="en-US" dirty="0" smtClean="0"/>
              <a:t>AWS</a:t>
            </a:r>
          </a:p>
          <a:p>
            <a:pPr lvl="1"/>
            <a:r>
              <a:rPr lang="en-US" dirty="0" smtClean="0"/>
              <a:t>Has </a:t>
            </a:r>
            <a:r>
              <a:rPr lang="en-US" dirty="0"/>
              <a:t>been operating since </a:t>
            </a:r>
            <a:r>
              <a:rPr lang="en-US" dirty="0" smtClean="0"/>
              <a:t>2006</a:t>
            </a:r>
          </a:p>
          <a:p>
            <a:pPr lvl="1"/>
            <a:r>
              <a:rPr lang="en-US" dirty="0"/>
              <a:t>Running in a large-scale </a:t>
            </a:r>
          </a:p>
          <a:p>
            <a:pPr lvl="1"/>
            <a:r>
              <a:rPr lang="en-US" dirty="0"/>
              <a:t>distributed, transactional IT infrastructure</a:t>
            </a:r>
          </a:p>
          <a:p>
            <a:pPr lvl="1"/>
            <a:r>
              <a:rPr lang="en-US" dirty="0"/>
              <a:t>Flexible, Cost-effective, Scalable and elastic, Secure, </a:t>
            </a:r>
            <a:r>
              <a:rPr lang="en-US" dirty="0" smtClean="0"/>
              <a:t>Experienced.</a:t>
            </a:r>
          </a:p>
          <a:p>
            <a:pPr lvl="1"/>
            <a:endParaRPr lang="en-US" dirty="0" smtClean="0"/>
          </a:p>
          <a:p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©2013. AOI Systems Vietnam Co., Ltd.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BF11C9-9A3F-7145-B632-1B5096D5B9F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2387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Network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The AWS network provides significant protection against traditional network security issues, and the customer has options to implement further protection. </a:t>
            </a:r>
            <a:endParaRPr lang="en-US" sz="2000" dirty="0" smtClean="0"/>
          </a:p>
          <a:p>
            <a:pPr>
              <a:defRPr/>
            </a:pPr>
            <a:endParaRPr lang="en-US" sz="2000" dirty="0" smtClean="0"/>
          </a:p>
          <a:p>
            <a:pPr>
              <a:defRPr/>
            </a:pPr>
            <a:r>
              <a:rPr lang="en-US" sz="2000" dirty="0"/>
              <a:t>All of the AWS APIs are available via SSL-protected endpoints which provide server authentication. </a:t>
            </a:r>
            <a:endParaRPr lang="en-US" sz="2000" dirty="0" smtClean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All of the AWS APIs are available via SSL-protected endpoints which provide server authentication. </a:t>
            </a:r>
            <a:endParaRPr lang="en-US" sz="2000" dirty="0" smtClean="0"/>
          </a:p>
          <a:p>
            <a:pPr>
              <a:defRPr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1B118D-D072-EA40-AEC5-CC10A8BE9939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2569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common </a:t>
            </a:r>
            <a:r>
              <a:rPr lang="en-US" dirty="0" smtClean="0"/>
              <a:t>services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Compute &amp; </a:t>
            </a:r>
            <a:r>
              <a:rPr lang="en-US" sz="2000" dirty="0" smtClean="0"/>
              <a:t>Networking</a:t>
            </a:r>
          </a:p>
          <a:p>
            <a:pPr lvl="1">
              <a:defRPr/>
            </a:pPr>
            <a:r>
              <a:rPr lang="en-US" sz="2000" dirty="0" smtClean="0"/>
              <a:t>Amazon Elastic Compute Cloud (Amazon EC2)</a:t>
            </a:r>
          </a:p>
          <a:p>
            <a:pPr lvl="2">
              <a:defRPr/>
            </a:pPr>
            <a:r>
              <a:rPr lang="en-US" sz="1600" dirty="0"/>
              <a:t>provides resizable compute capacity in the </a:t>
            </a:r>
            <a:r>
              <a:rPr lang="en-US" sz="1600" dirty="0" smtClean="0"/>
              <a:t>cloud</a:t>
            </a:r>
          </a:p>
          <a:p>
            <a:pPr lvl="2">
              <a:defRPr/>
            </a:pPr>
            <a:r>
              <a:rPr lang="en-US" sz="1600" dirty="0" smtClean="0"/>
              <a:t>make </a:t>
            </a:r>
            <a:r>
              <a:rPr lang="en-US" sz="1600" dirty="0"/>
              <a:t>web-scale computing easier for developers and system </a:t>
            </a:r>
            <a:r>
              <a:rPr lang="en-US" sz="1600" dirty="0" smtClean="0"/>
              <a:t>administrators</a:t>
            </a:r>
          </a:p>
          <a:p>
            <a:pPr lvl="2">
              <a:defRPr/>
            </a:pPr>
            <a:r>
              <a:rPr lang="en-US" sz="1600" dirty="0" smtClean="0"/>
              <a:t>provides you </a:t>
            </a:r>
            <a:r>
              <a:rPr lang="en-US" sz="1600" dirty="0"/>
              <a:t>with complete control of your computing </a:t>
            </a:r>
            <a:r>
              <a:rPr lang="en-US" sz="1600" dirty="0" smtClean="0"/>
              <a:t>resources</a:t>
            </a:r>
          </a:p>
          <a:p>
            <a:pPr lvl="2">
              <a:defRPr/>
            </a:pPr>
            <a:r>
              <a:rPr lang="en-US" sz="1600" dirty="0" smtClean="0"/>
              <a:t>pay </a:t>
            </a:r>
            <a:r>
              <a:rPr lang="en-US" sz="1600" dirty="0"/>
              <a:t>only for capacity that you actually </a:t>
            </a:r>
            <a:r>
              <a:rPr lang="en-US" sz="1600" dirty="0" smtClean="0"/>
              <a:t>use.</a:t>
            </a:r>
          </a:p>
          <a:p>
            <a:pPr lvl="2">
              <a:defRPr/>
            </a:pPr>
            <a:r>
              <a:rPr lang="en-US" sz="1600" dirty="0"/>
              <a:t>Ref </a:t>
            </a:r>
            <a:r>
              <a:rPr lang="en-US" sz="1600" dirty="0" smtClean="0"/>
              <a:t>: </a:t>
            </a:r>
            <a:r>
              <a:rPr lang="en-US" sz="1600" dirty="0" smtClean="0">
                <a:hlinkClick r:id="rId2"/>
              </a:rPr>
              <a:t>http</a:t>
            </a:r>
            <a:r>
              <a:rPr lang="en-US" sz="1600" dirty="0">
                <a:hlinkClick r:id="rId2"/>
              </a:rPr>
              <a:t>://aws.amazon.com/ec2/</a:t>
            </a:r>
            <a:endParaRPr lang="en-US" sz="2000" dirty="0" smtClean="0"/>
          </a:p>
          <a:p>
            <a:pPr>
              <a:defRPr/>
            </a:pPr>
            <a:r>
              <a:rPr lang="en-US" sz="2000" dirty="0"/>
              <a:t>Storage &amp; Content Delivery </a:t>
            </a:r>
            <a:r>
              <a:rPr lang="en-US" sz="2000" dirty="0" smtClean="0"/>
              <a:t>Network</a:t>
            </a:r>
          </a:p>
          <a:p>
            <a:pPr lvl="1">
              <a:defRPr/>
            </a:pPr>
            <a:r>
              <a:rPr lang="en-US" sz="2000" dirty="0"/>
              <a:t>Amazon Simple Storage Service (Amazon </a:t>
            </a:r>
            <a:r>
              <a:rPr lang="en-US" sz="2000" dirty="0" smtClean="0"/>
              <a:t>S3)</a:t>
            </a:r>
          </a:p>
          <a:p>
            <a:pPr lvl="2">
              <a:defRPr/>
            </a:pPr>
            <a:r>
              <a:rPr lang="en-US" sz="1600" dirty="0" smtClean="0"/>
              <a:t>Storage </a:t>
            </a:r>
            <a:r>
              <a:rPr lang="en-US" sz="1600" dirty="0"/>
              <a:t>for the </a:t>
            </a:r>
            <a:r>
              <a:rPr lang="en-US" sz="1600" dirty="0" smtClean="0"/>
              <a:t>Internet.</a:t>
            </a:r>
          </a:p>
          <a:p>
            <a:pPr lvl="2">
              <a:defRPr/>
            </a:pPr>
            <a:r>
              <a:rPr lang="en-US" sz="1600" dirty="0" smtClean="0"/>
              <a:t>Provides </a:t>
            </a:r>
            <a:r>
              <a:rPr lang="en-US" sz="1600" dirty="0"/>
              <a:t>a simple web services </a:t>
            </a:r>
            <a:r>
              <a:rPr lang="en-US" sz="1600" dirty="0" smtClean="0"/>
              <a:t>interface.</a:t>
            </a:r>
          </a:p>
          <a:p>
            <a:pPr lvl="2">
              <a:defRPr/>
            </a:pPr>
            <a:r>
              <a:rPr lang="en-US" sz="1600" dirty="0" smtClean="0"/>
              <a:t>Can </a:t>
            </a:r>
            <a:r>
              <a:rPr lang="en-US" sz="1600" dirty="0"/>
              <a:t>be used to store and retrieve any amount of </a:t>
            </a:r>
            <a:r>
              <a:rPr lang="en-US" sz="1600" dirty="0" smtClean="0"/>
              <a:t>data.</a:t>
            </a:r>
          </a:p>
          <a:p>
            <a:pPr lvl="2">
              <a:defRPr/>
            </a:pPr>
            <a:r>
              <a:rPr lang="en-US" sz="1600" dirty="0" smtClean="0"/>
              <a:t>Provides for dev.</a:t>
            </a:r>
          </a:p>
          <a:p>
            <a:pPr lvl="2">
              <a:defRPr/>
            </a:pPr>
            <a:r>
              <a:rPr lang="en-US" sz="1600" dirty="0" smtClean="0"/>
              <a:t>Ref: </a:t>
            </a:r>
            <a:r>
              <a:rPr lang="en-US" sz="1600" dirty="0">
                <a:hlinkClick r:id="rId3"/>
              </a:rPr>
              <a:t>http://</a:t>
            </a:r>
            <a:r>
              <a:rPr lang="en-US" sz="1600" dirty="0" smtClean="0">
                <a:hlinkClick r:id="rId3"/>
              </a:rPr>
              <a:t>aws.amazon.com/s3/</a:t>
            </a:r>
            <a:endParaRPr lang="en-US" sz="1800" dirty="0" smtClean="0"/>
          </a:p>
          <a:p>
            <a:pPr marL="0" indent="0">
              <a:buNone/>
              <a:defRPr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1B118D-D072-EA40-AEC5-CC10A8BE9939}" type="slidenum">
              <a:rPr lang="en-US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 descr="EC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96" y="1981200"/>
            <a:ext cx="731520" cy="731520"/>
          </a:xfrm>
          <a:prstGeom prst="rect">
            <a:avLst/>
          </a:prstGeom>
        </p:spPr>
      </p:pic>
      <p:pic>
        <p:nvPicPr>
          <p:cNvPr id="7" name="Picture 6" descr="S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96" y="4229100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6317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common services.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sz="2000" dirty="0"/>
              <a:t>Amazon Simple Email Service (Amazon SES)</a:t>
            </a:r>
            <a:endParaRPr lang="en-US" sz="2000" dirty="0" smtClean="0"/>
          </a:p>
          <a:p>
            <a:pPr lvl="1">
              <a:defRPr/>
            </a:pPr>
            <a:r>
              <a:rPr lang="en-US" sz="2000" dirty="0" smtClean="0"/>
              <a:t>Amazon Elastic Compute Cloud (Amazon EC2)</a:t>
            </a:r>
          </a:p>
          <a:p>
            <a:pPr lvl="2">
              <a:defRPr/>
            </a:pPr>
            <a:r>
              <a:rPr lang="en-US" sz="1600" dirty="0" smtClean="0"/>
              <a:t>Simple usage.</a:t>
            </a:r>
          </a:p>
          <a:p>
            <a:pPr lvl="2">
              <a:defRPr/>
            </a:pPr>
            <a:r>
              <a:rPr lang="en-US" sz="1600" dirty="0"/>
              <a:t>easy to send emails from applications that are hosted on </a:t>
            </a:r>
            <a:r>
              <a:rPr lang="en-US" sz="1600" dirty="0" smtClean="0"/>
              <a:t>services.</a:t>
            </a:r>
          </a:p>
          <a:p>
            <a:pPr lvl="2">
              <a:defRPr/>
            </a:pPr>
            <a:r>
              <a:rPr lang="en-US" sz="1600" dirty="0" smtClean="0"/>
              <a:t>pay </a:t>
            </a:r>
            <a:r>
              <a:rPr lang="en-US" sz="1600" dirty="0"/>
              <a:t>only for capacity that you actually </a:t>
            </a:r>
            <a:r>
              <a:rPr lang="en-US" sz="1600" dirty="0" smtClean="0"/>
              <a:t>use.</a:t>
            </a:r>
          </a:p>
          <a:p>
            <a:pPr lvl="2">
              <a:defRPr/>
            </a:pPr>
            <a:r>
              <a:rPr lang="en-US" sz="1600" dirty="0"/>
              <a:t>Ref : </a:t>
            </a:r>
            <a:r>
              <a:rPr lang="en-US" sz="1600" dirty="0">
                <a:hlinkClick r:id="rId2"/>
              </a:rPr>
              <a:t>http://aws.amazon.com/ses</a:t>
            </a:r>
            <a:r>
              <a:rPr lang="en-US" sz="1600" dirty="0" smtClean="0">
                <a:hlinkClick r:id="rId2"/>
              </a:rPr>
              <a:t>/</a:t>
            </a:r>
            <a:endParaRPr lang="en-US" sz="1800" dirty="0" smtClean="0"/>
          </a:p>
          <a:p>
            <a:pPr>
              <a:defRPr/>
            </a:pPr>
            <a:r>
              <a:rPr lang="en-US" sz="2000" dirty="0"/>
              <a:t>Database</a:t>
            </a:r>
          </a:p>
          <a:p>
            <a:pPr lvl="1">
              <a:defRPr/>
            </a:pPr>
            <a:r>
              <a:rPr lang="en-US" sz="2000" dirty="0"/>
              <a:t>Amazon Relational Database Service (Amazon RDS</a:t>
            </a:r>
            <a:r>
              <a:rPr lang="en-US" sz="2000" dirty="0" smtClean="0"/>
              <a:t>)</a:t>
            </a:r>
          </a:p>
          <a:p>
            <a:pPr lvl="2">
              <a:defRPr/>
            </a:pPr>
            <a:r>
              <a:rPr lang="en-US" sz="1600" smtClean="0"/>
              <a:t>gives </a:t>
            </a:r>
            <a:r>
              <a:rPr lang="en-US" sz="1600" dirty="0"/>
              <a:t>you access to the capabilities of a familiar MySQL, Oracle, SQL Server or PostgreSQL database.</a:t>
            </a:r>
            <a:endParaRPr lang="en-US" sz="1600" dirty="0" smtClean="0"/>
          </a:p>
          <a:p>
            <a:pPr lvl="2">
              <a:defRPr/>
            </a:pPr>
            <a:r>
              <a:rPr lang="en-US" sz="1600" dirty="0"/>
              <a:t> storing the backups for a retention period that you define and enabling point-in-time </a:t>
            </a:r>
            <a:r>
              <a:rPr lang="en-US" sz="1600" dirty="0" smtClean="0"/>
              <a:t>recovery.</a:t>
            </a:r>
            <a:endParaRPr lang="en-US" sz="1600" dirty="0"/>
          </a:p>
          <a:p>
            <a:pPr lvl="2">
              <a:defRPr/>
            </a:pPr>
            <a:r>
              <a:rPr lang="en-US" sz="1600" dirty="0"/>
              <a:t>Ref :</a:t>
            </a:r>
            <a:r>
              <a:rPr lang="en-US" sz="1600" dirty="0">
                <a:hlinkClick r:id="rId3"/>
              </a:rPr>
              <a:t> http://</a:t>
            </a:r>
            <a:r>
              <a:rPr lang="en-US" sz="1600" dirty="0" smtClean="0">
                <a:hlinkClick r:id="rId3"/>
              </a:rPr>
              <a:t>aws.amazon.com/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©2013. AOI Systems Vietnam Co.,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1B118D-D072-EA40-AEC5-CC10A8BE9939}" type="slidenum">
              <a:rPr lang="en-US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Picture 5" descr="SE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905000"/>
            <a:ext cx="731520" cy="731520"/>
          </a:xfrm>
          <a:prstGeom prst="rect">
            <a:avLst/>
          </a:prstGeom>
        </p:spPr>
      </p:pic>
      <p:pic>
        <p:nvPicPr>
          <p:cNvPr id="7" name="Picture 6" descr="RDS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3962400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8163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©2013. AOI Systems Vietnam Co., Ltd.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40AFB3-6118-5144-9908-F4A929D965C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rcRect t="8058" b="8058"/>
          <a:stretch>
            <a:fillRect/>
          </a:stretch>
        </p:blipFill>
        <p:spPr>
          <a:xfrm>
            <a:off x="1905000" y="1524000"/>
            <a:ext cx="5638800" cy="3542963"/>
          </a:xfr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sv_template">
  <a:themeElements>
    <a:clrScheme name="asv_template 3">
      <a:dk1>
        <a:srgbClr val="2A4C41"/>
      </a:dk1>
      <a:lt1>
        <a:srgbClr val="FFFFFF"/>
      </a:lt1>
      <a:dk2>
        <a:srgbClr val="000000"/>
      </a:dk2>
      <a:lt2>
        <a:srgbClr val="DDDDDD"/>
      </a:lt2>
      <a:accent1>
        <a:srgbClr val="003366"/>
      </a:accent1>
      <a:accent2>
        <a:srgbClr val="1A50B2"/>
      </a:accent2>
      <a:accent3>
        <a:srgbClr val="FFFFFF"/>
      </a:accent3>
      <a:accent4>
        <a:srgbClr val="224036"/>
      </a:accent4>
      <a:accent5>
        <a:srgbClr val="AAADB8"/>
      </a:accent5>
      <a:accent6>
        <a:srgbClr val="1648A1"/>
      </a:accent6>
      <a:hlink>
        <a:srgbClr val="E5772D"/>
      </a:hlink>
      <a:folHlink>
        <a:srgbClr val="76CA2A"/>
      </a:folHlink>
    </a:clrScheme>
    <a:fontScheme name="asv_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asv_template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0080A2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AAC0CE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sv_template 2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sv_template 3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003366"/>
        </a:accent1>
        <a:accent2>
          <a:srgbClr val="1A50B2"/>
        </a:accent2>
        <a:accent3>
          <a:srgbClr val="FFFFFF"/>
        </a:accent3>
        <a:accent4>
          <a:srgbClr val="224036"/>
        </a:accent4>
        <a:accent5>
          <a:srgbClr val="AAADB8"/>
        </a:accent5>
        <a:accent6>
          <a:srgbClr val="1648A1"/>
        </a:accent6>
        <a:hlink>
          <a:srgbClr val="E5772D"/>
        </a:hlink>
        <a:folHlink>
          <a:srgbClr val="76CA2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417TGp_biz_light</Template>
  <TotalTime>2452</TotalTime>
  <Words>453</Words>
  <Application>Microsoft Office PowerPoint</Application>
  <PresentationFormat>On-screen Show (4:3)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Georgia</vt:lpstr>
      <vt:lpstr>Wingdings</vt:lpstr>
      <vt:lpstr>asv_template</vt:lpstr>
      <vt:lpstr>Very Summary Amazon Web Services (AWS)</vt:lpstr>
      <vt:lpstr>Content</vt:lpstr>
      <vt:lpstr>AWS Introduction</vt:lpstr>
      <vt:lpstr>Network Security</vt:lpstr>
      <vt:lpstr>Some common services</vt:lpstr>
      <vt:lpstr>Some common services.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User</dc:creator>
  <cp:lastModifiedBy>Hiếu Nguyễn</cp:lastModifiedBy>
  <cp:revision>105</cp:revision>
  <dcterms:created xsi:type="dcterms:W3CDTF">2013-05-24T20:58:08Z</dcterms:created>
  <dcterms:modified xsi:type="dcterms:W3CDTF">2015-08-05T03:56:48Z</dcterms:modified>
</cp:coreProperties>
</file>